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312E8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291840"/>
            <a:ext cx="3291840" cy="3291840"/>
          </a:xfrm>
          <a:prstGeom prst="ellipse">
            <a:avLst/>
          </a:prstGeom>
          <a:solidFill>
            <a:srgbClr val="4F46E5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MANAGEMENT · PROJECT REVIEW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Learning Suite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803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AI-Powered, Multi-Tenant School Management Platform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3593592"/>
            <a:ext cx="402336" cy="40233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593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0416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14600" y="3593592"/>
            <a:ext cx="402336" cy="40233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514600" y="3593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2514600" y="40416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Admin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06240" y="3593592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206240" y="3593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206240" y="40416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897880" y="3593592"/>
            <a:ext cx="402336" cy="40233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897880" y="3593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897880" y="40416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589520" y="3593592"/>
            <a:ext cx="402336" cy="402336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589520" y="3593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589520" y="40416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22960" y="4864608"/>
            <a:ext cx="5120640" cy="0"/>
          </a:xfrm>
          <a:prstGeom prst="line">
            <a:avLst/>
          </a:prstGeom>
          <a:noFill/>
          <a:ln w="19050">
            <a:solidFill>
              <a:srgbClr val="312E8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2960" y="5010912"/>
            <a:ext cx="9144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Angeline Jenita  ·  Reg No. 2303917773822002
</a:t>
            </a: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Guide: T Chandrakumar, Professor
</a:t>
            </a: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Guide: Siva Kumar, CEO, Cultivaite Futures
</a:t>
            </a: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[Department], Thiagarajar College Of Engineering  ·  [Review Date]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Learning Suite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88752" y="6492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20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30352" y="1627632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30352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618488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28232" y="1627632"/>
            <a:ext cx="457200" cy="457200"/>
          </a:xfrm>
          <a:prstGeom prst="ellipse">
            <a:avLst/>
          </a:prstGeom>
          <a:solidFill>
            <a:srgbClr val="312E8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28232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040880" y="1618488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Functionalities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0352" y="2414016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30352" y="2414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2404872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Analysis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28232" y="2414016"/>
            <a:ext cx="457200" cy="457200"/>
          </a:xfrm>
          <a:prstGeom prst="ellipse">
            <a:avLst/>
          </a:prstGeom>
          <a:solidFill>
            <a:srgbClr val="312E8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28232" y="2414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040880" y="2404872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30352" y="320040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30352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3191256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Design (UML)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28232" y="3200400"/>
            <a:ext cx="457200" cy="457200"/>
          </a:xfrm>
          <a:prstGeom prst="ellipse">
            <a:avLst/>
          </a:prstGeom>
          <a:solidFill>
            <a:srgbClr val="312E8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28232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7040880" y="3191256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Status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30352" y="3986784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30352" y="3986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" y="3977640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Obtained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28232" y="3986784"/>
            <a:ext cx="457200" cy="457200"/>
          </a:xfrm>
          <a:prstGeom prst="ellipse">
            <a:avLst/>
          </a:prstGeom>
          <a:solidFill>
            <a:srgbClr val="312E8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28232" y="3986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7040880" y="3977640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30352" y="477316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30352" y="4773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143000" y="4764024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28232" y="4773168"/>
            <a:ext cx="457200" cy="457200"/>
          </a:xfrm>
          <a:prstGeom prst="ellipse">
            <a:avLst/>
          </a:prstGeom>
          <a:solidFill>
            <a:srgbClr val="312E8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428232" y="4773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7040880" y="4764024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ABSTRACT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Is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Learning Suite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88752" y="6492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20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6766560" cy="4709160"/>
          </a:xfrm>
          <a:prstGeom prst="roundRect">
            <a:avLst>
              <a:gd name="adj" fmla="val 17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F172A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1783080"/>
            <a:ext cx="61264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Learning Suite is a multi-tenant school-management platform: every school gets its own isolated workspace, sharing one codebase. 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roles — Super Admin, School Admin, Teacher, Student, and Parent — each get a purpose-built dashboard instead of one generic screen stretched across every use case.
</a:t>
            </a:r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platform's defining idea is AI as a reviewed assistant, not an autonomous grader: 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drafts courses, answers student questions grounded in real curriculum, and suggests rubric-by-rubric scores — but a teacher always makes the final call before anything is saved.
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FastAPI, PostgreSQL, and React, with Anthropic Claude and Google Gemini as interchangeable AI providers chosen per school.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543800" y="1554480"/>
            <a:ext cx="4142232" cy="1133856"/>
          </a:xfrm>
          <a:prstGeom prst="roundRect">
            <a:avLst>
              <a:gd name="adj" fmla="val 725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F172A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543800" y="1664208"/>
            <a:ext cx="4142232" cy="62362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7635240" y="2234794"/>
            <a:ext cx="3959352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dashboards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543800" y="2816352"/>
            <a:ext cx="4142232" cy="1133856"/>
          </a:xfrm>
          <a:prstGeom prst="roundRect">
            <a:avLst>
              <a:gd name="adj" fmla="val 725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F172A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543800" y="2926080"/>
            <a:ext cx="4142232" cy="62362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7635240" y="3496666"/>
            <a:ext cx="3959352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routers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543800" y="4078224"/>
            <a:ext cx="4142232" cy="1133856"/>
          </a:xfrm>
          <a:prstGeom prst="roundRect">
            <a:avLst>
              <a:gd name="adj" fmla="val 725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F172A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543800" y="4187952"/>
            <a:ext cx="4142232" cy="62362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7635240" y="4758538"/>
            <a:ext cx="3959352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Interchangeable AI providers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543800" y="5340096"/>
            <a:ext cx="4142232" cy="1133856"/>
          </a:xfrm>
          <a:prstGeom prst="roundRect">
            <a:avLst>
              <a:gd name="adj" fmla="val 725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F172A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543800" y="5449824"/>
            <a:ext cx="4142232" cy="62362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7635240" y="6020410"/>
            <a:ext cx="3959352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complete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FUNCTIONALITIES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Platform Does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Learning Suite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88752" y="6492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20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572768"/>
            <a:ext cx="2688336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F172A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30936" y="1700784"/>
            <a:ext cx="512064" cy="51206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0936" y="17007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322576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&amp; Curriculum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743200"/>
            <a:ext cx="23225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 → Modules → Lessons, authored manually or generated by AI.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19272" y="1572768"/>
            <a:ext cx="2688336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F172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47288" y="1700784"/>
            <a:ext cx="512064" cy="51206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447288" y="17007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502152" y="2322576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 &amp; Grading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502152" y="2743200"/>
            <a:ext cx="23225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Quizzes auto-grade instantly; written work gets AI-assisted rubric or answer-key grading.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35624" y="1572768"/>
            <a:ext cx="2688336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F172A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63640" y="1700784"/>
            <a:ext cx="512064" cy="51206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63640" y="17007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318504" y="2322576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318504" y="2743200"/>
            <a:ext cx="23225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mark it per class; students and parents see it in real time.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951976" y="1572768"/>
            <a:ext cx="2688336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F172A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079992" y="1700784"/>
            <a:ext cx="512064" cy="51206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079992" y="17007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134856" y="2322576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&amp; Reports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134856" y="2743200"/>
            <a:ext cx="23225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rosters, report cards, and Excel / PDF export.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2920" y="3867912"/>
            <a:ext cx="2688336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F172A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0936" y="3995928"/>
            <a:ext cx="512064" cy="51206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30936" y="3995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" y="4617720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85800" y="5038344"/>
            <a:ext cx="23225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Challenges, Fun Games, and a Gamified Match assignment type.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319272" y="3867912"/>
            <a:ext cx="2688336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F172A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447288" y="3995928"/>
            <a:ext cx="512064" cy="51206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3447288" y="3995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3502152" y="4617720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Announcements &amp; Discussions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3502152" y="5038344"/>
            <a:ext cx="23225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School- and course-level updates, plus threaded course Q&amp;A.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135624" y="3867912"/>
            <a:ext cx="2688336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F172A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63640" y="3995928"/>
            <a:ext cx="512064" cy="51206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263640" y="3995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6318504" y="4617720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Admin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6318504" y="5038344"/>
            <a:ext cx="23225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 manages schools, subscriptions, and platform-wide settings.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8951976" y="3867912"/>
            <a:ext cx="2688336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F172A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9079992" y="3995928"/>
            <a:ext cx="512064" cy="51206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079992" y="3995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9134856" y="4617720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Compliance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9134856" y="5038344"/>
            <a:ext cx="23225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RBAC, data-deletion requests, and a complaints pipeline to Super Admin.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FUNCTIONALITIES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Features, In Depth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Learning Suite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88752" y="6492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20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572768"/>
            <a:ext cx="5440680" cy="1874520"/>
          </a:xfrm>
          <a:prstGeom prst="roundRect">
            <a:avLst>
              <a:gd name="adj" fmla="val 4390"/>
            </a:avLst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  <a:effectLst>
            <a:outerShdw sx="100000" sy="100000" kx="0" ky="0" algn="bl" rotWithShape="0" blurRad="127000" dist="38100" dir="5400000">
              <a:srgbClr val="0F172A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175564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Builder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194560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full course — modules, lessons, even from an uploaded PDF — for a teacher to edit and publish.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572768"/>
            <a:ext cx="5440680" cy="1874520"/>
          </a:xfrm>
          <a:prstGeom prst="roundRect">
            <a:avLst>
              <a:gd name="adj" fmla="val 4390"/>
            </a:avLst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  <a:effectLst>
            <a:outerShdw sx="100000" sy="100000" kx="0" ky="0" algn="bl" rotWithShape="0" blurRad="127000" dist="38100" dir="5400000">
              <a:srgbClr val="0F172A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37960" y="175564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Tutor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194560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student-facing chat grounded in the real course and lesson content the student is enrolled in, not generic answers.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703320"/>
            <a:ext cx="5440680" cy="1874520"/>
          </a:xfrm>
          <a:prstGeom prst="roundRect">
            <a:avLst>
              <a:gd name="adj" fmla="val 4390"/>
            </a:avLst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  <a:effectLst>
            <a:outerShdw sx="100000" sy="100000" kx="0" ky="0" algn="bl" rotWithShape="0" blurRad="127000" dist="38100" dir="5400000">
              <a:srgbClr val="0F172A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77240" y="38862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Answer-Key Grading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325112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objective written answers, AI compares the submission against a teacher's key and suggests a grade.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63640" y="3703320"/>
            <a:ext cx="5440680" cy="1874520"/>
          </a:xfrm>
          <a:prstGeom prst="roundRect">
            <a:avLst>
              <a:gd name="adj" fmla="val 4390"/>
            </a:avLst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  <a:effectLst>
            <a:outerShdw sx="100000" sy="100000" kx="0" ky="0" algn="bl" rotWithShape="0" blurRad="127000" dist="38100" dir="5400000">
              <a:srgbClr val="0F172A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537960" y="38862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Grading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4325112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scores each rubric criterion independently with a justification; points are server-clamped to that criterion's max.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587044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suggestion is reviewed and can be overridden by a teacher before it's saved — AI drafts, humans decide.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RISK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&amp; Mitigations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Learning Suite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88752" y="6492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20</a:t>
            </a:r>
            <a:endParaRPr lang="en-US" sz="9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72768"/>
          <a:ext cx="11183112" cy="914400"/>
        </p:xfrm>
        <a:graphic>
          <a:graphicData uri="http://schemas.openxmlformats.org/drawingml/2006/table">
            <a:tbl>
              <a:tblPr/>
              <a:tblGrid>
                <a:gridCol w="2880360"/>
                <a:gridCol w="1417320"/>
                <a:gridCol w="1234440"/>
                <a:gridCol w="1051560"/>
                <a:gridCol w="45720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Likelihood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2E8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hallucination in grading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Server-side clamps points to criterion max, drops unknown IDs; teacher review required before save.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Third-party AI provider outage / 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Provider-agnostic AIService lets a school switch Claude ↔ Gemini with no code change.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Cross-tenant data leakage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scoped query filters by school_id from the caller's own JWT; cross-school views are explicitly tested.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 bypass / weak credentials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 + bcrypt hashing, per-route RBAC guards, rate limiting on auth endpoints.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scope creep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feature reviewed against a Keep / Consolidate / Cut framework each cycle.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 drift across environments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schema changes ship as versioned, reversible Alembic migrations.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DATABASE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Design Principles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Learning Suite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88752" y="6492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20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6949440" cy="4709160"/>
          </a:xfrm>
          <a:prstGeom prst="roundRect">
            <a:avLst>
              <a:gd name="adj" fmla="val 17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F172A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1828800"/>
            <a:ext cx="6309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ts val="1900"/>
              </a:lnSpc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tenant-scoped table carries a school_id foreign key — the multi-tenant boundary enforced in code on every query, not just at the database level.</a:t>
            </a:r>
            <a:endParaRPr lang="en-US" sz="1450" dirty="0"/>
          </a:p>
          <a:p>
            <a:pPr marL="203200" indent="-203200">
              <a:lnSpc>
                <a:spcPts val="1900"/>
              </a:lnSpc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2.0 ORM models map one-to-one with versioned Alembic migrations — 27 migrations applied to date, every one reversible.</a:t>
            </a:r>
            <a:endParaRPr lang="en-US" sz="1450" dirty="0"/>
          </a:p>
          <a:p>
            <a:pPr marL="203200" indent="-203200">
              <a:lnSpc>
                <a:spcPts val="1900"/>
              </a:lnSpc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keys are UUID strings, not auto-increment integers — safe to expose in a URL, safe to generate client-side.</a:t>
            </a:r>
            <a:endParaRPr lang="en-US" sz="1450" dirty="0"/>
          </a:p>
          <a:p>
            <a:pPr marL="203200" indent="-203200">
              <a:lnSpc>
                <a:spcPts val="1900"/>
              </a:lnSpc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 deletes are explicit per relationship — deleting a school cascades to its users and courses; deleting a course never deletes its enrolled students.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726680" y="1554480"/>
            <a:ext cx="3959352" cy="1417320"/>
          </a:xfrm>
          <a:prstGeom prst="roundRect">
            <a:avLst>
              <a:gd name="adj" fmla="val 580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F172A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726680" y="1664208"/>
            <a:ext cx="3959352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7818120" y="2404872"/>
            <a:ext cx="3776472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Alembic migrations applied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26680" y="3090672"/>
            <a:ext cx="3959352" cy="1417320"/>
          </a:xfrm>
          <a:prstGeom prst="roundRect">
            <a:avLst>
              <a:gd name="adj" fmla="val 580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F172A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726680" y="3200400"/>
            <a:ext cx="3959352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20+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7818120" y="3941064"/>
            <a:ext cx="3776472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in the schema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26680" y="4626864"/>
            <a:ext cx="3959352" cy="1417320"/>
          </a:xfrm>
          <a:prstGeom prst="roundRect">
            <a:avLst>
              <a:gd name="adj" fmla="val 580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F172A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26680" y="4736592"/>
            <a:ext cx="3959352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→ N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7818120" y="5477256"/>
            <a:ext cx="3776472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schema, many schools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DATABASE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 Relationships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Learning Suite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88752" y="6492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20</a:t>
            </a:r>
            <a:endParaRPr lang="en-US" sz="950" dirty="0"/>
          </a:p>
        </p:txBody>
      </p:sp>
      <p:pic>
        <p:nvPicPr>
          <p:cNvPr id="6" name="Image 0" descr="assets/er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49581" y="1481328"/>
            <a:ext cx="688979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DETAILED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Learning Suite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88752" y="6492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20</a:t>
            </a:r>
            <a:endParaRPr lang="en-US" sz="950" dirty="0"/>
          </a:p>
        </p:txBody>
      </p:sp>
      <p:pic>
        <p:nvPicPr>
          <p:cNvPr id="6" name="Image 0" descr="assets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3368" y="1481328"/>
            <a:ext cx="8482216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DETAILED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Diagram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Learning Suite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88752" y="6492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20</a:t>
            </a:r>
            <a:endParaRPr lang="en-US" sz="950" dirty="0"/>
          </a:p>
        </p:txBody>
      </p:sp>
      <p:pic>
        <p:nvPicPr>
          <p:cNvPr id="6" name="Image 0" descr="assets/use_c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8857" y="1481328"/>
            <a:ext cx="7711237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DETAILED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Diagram — Core Domain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Learning Suite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88752" y="6492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950" dirty="0"/>
          </a:p>
        </p:txBody>
      </p:sp>
      <p:pic>
        <p:nvPicPr>
          <p:cNvPr id="6" name="Image 0" descr="assets/class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4844" y="1481328"/>
            <a:ext cx="7059264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DETAILED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Sequence Diagram — AI Rubric Grading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Learning Suite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88752" y="6492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950" dirty="0"/>
          </a:p>
        </p:txBody>
      </p:sp>
      <p:pic>
        <p:nvPicPr>
          <p:cNvPr id="6" name="Image 0" descr="assets/sequ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8857" y="1481328"/>
            <a:ext cx="7711237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IMPLEMENTATION STATUS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~70% Complete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Learning Suite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88752" y="6492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572768"/>
            <a:ext cx="3291840" cy="4663440"/>
          </a:xfrm>
          <a:prstGeom prst="roundRect">
            <a:avLst>
              <a:gd name="adj" fmla="val 2500"/>
            </a:avLst>
          </a:prstGeom>
          <a:solidFill>
            <a:srgbClr val="1E1B4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F172A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02920" y="228600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5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52044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platform is built,</a:t>
            </a:r>
            <a:endParaRPr lang="en-US" sz="13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wired end-to-end, and</a:t>
            </a:r>
            <a:endParaRPr lang="en-US" sz="13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functionally verified.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160520" y="1691640"/>
            <a:ext cx="462046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platform — auth, roles, schools, courses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064240" y="16916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60520" y="1984248"/>
            <a:ext cx="7452360" cy="146304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4160520" y="1984248"/>
            <a:ext cx="7079742" cy="146304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160520" y="2350008"/>
            <a:ext cx="462046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workflows — assignments, grading, attendance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064240" y="23500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60520" y="2642616"/>
            <a:ext cx="7452360" cy="146304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16" name="Shape 14"/>
          <p:cNvSpPr/>
          <p:nvPr/>
        </p:nvSpPr>
        <p:spPr>
          <a:xfrm>
            <a:off x="4160520" y="2642616"/>
            <a:ext cx="6334506" cy="146304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160520" y="3008376"/>
            <a:ext cx="462046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 — tutor, course builder, rubric grading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1064240" y="3008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60520" y="3300984"/>
            <a:ext cx="7452360" cy="146304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20" name="Shape 18"/>
          <p:cNvSpPr/>
          <p:nvPr/>
        </p:nvSpPr>
        <p:spPr>
          <a:xfrm>
            <a:off x="4160520" y="3300984"/>
            <a:ext cx="5961888" cy="146304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160520" y="3666744"/>
            <a:ext cx="462046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&amp; compliance — complaints, data requests, settings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1064240" y="366674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60520" y="3959352"/>
            <a:ext cx="7452360" cy="146304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24" name="Shape 22"/>
          <p:cNvSpPr/>
          <p:nvPr/>
        </p:nvSpPr>
        <p:spPr>
          <a:xfrm>
            <a:off x="4160520" y="3959352"/>
            <a:ext cx="5589270" cy="14630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160520" y="4325112"/>
            <a:ext cx="462046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 coverage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1064240" y="432511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160520" y="4617720"/>
            <a:ext cx="7452360" cy="146304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28" name="Shape 26"/>
          <p:cNvSpPr/>
          <p:nvPr/>
        </p:nvSpPr>
        <p:spPr>
          <a:xfrm>
            <a:off x="4160520" y="4617720"/>
            <a:ext cx="4098798" cy="146304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160520" y="4983480"/>
            <a:ext cx="462046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production hardening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1064240" y="49834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160520" y="5276088"/>
            <a:ext cx="7452360" cy="146304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32" name="Shape 30"/>
          <p:cNvSpPr/>
          <p:nvPr/>
        </p:nvSpPr>
        <p:spPr>
          <a:xfrm>
            <a:off x="4160520" y="5276088"/>
            <a:ext cx="2980944" cy="146304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160520" y="5779008"/>
            <a:ext cx="7452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for the next review: full regression suite, production deployment pipeline, and real-user (teacher/student) usability testing.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RESULTS OBTAINED (INTERMEDIATE) — 1/3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Walkthrough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Learning Suite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88752" y="6492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572768"/>
            <a:ext cx="5454396" cy="4206240"/>
          </a:xfrm>
          <a:prstGeom prst="roundRect">
            <a:avLst>
              <a:gd name="adj" fmla="val 195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F172A">
                <a:alpha val="12000"/>
              </a:srgbClr>
            </a:outerShdw>
          </a:effectLst>
        </p:spPr>
      </p:sp>
      <p:pic>
        <p:nvPicPr>
          <p:cNvPr id="7" name="Image 0" descr="assets/screenshots/01_login_redire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64208"/>
            <a:ext cx="5271516" cy="329469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5413248"/>
            <a:ext cx="51800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role-based redirect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31636" y="1572768"/>
            <a:ext cx="5454396" cy="4206240"/>
          </a:xfrm>
          <a:prstGeom prst="roundRect">
            <a:avLst>
              <a:gd name="adj" fmla="val 195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F172A">
                <a:alpha val="12000"/>
              </a:srgbClr>
            </a:outerShdw>
          </a:effectLst>
        </p:spPr>
      </p:sp>
      <p:pic>
        <p:nvPicPr>
          <p:cNvPr id="10" name="Image 1" descr="assets/screenshots/02_super_admin_school_detai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076" y="1664208"/>
            <a:ext cx="5271516" cy="329469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368796" y="5413248"/>
            <a:ext cx="51800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 — School Details (Teachers / Students / Courses)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502920" y="594360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from a live, seeded instance of the application. AI-generated content (course builder, tutor chat, rubric suggestions) shown here was pre-seeded for demonstration rather than generated live, to conserve API quota.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RESULTS OBTAINED (INTERMEDIATE) — 2/3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Walkthrough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Learning Suite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88752" y="6492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572768"/>
            <a:ext cx="5454396" cy="4206240"/>
          </a:xfrm>
          <a:prstGeom prst="roundRect">
            <a:avLst>
              <a:gd name="adj" fmla="val 195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F172A">
                <a:alpha val="12000"/>
              </a:srgbClr>
            </a:outerShdw>
          </a:effectLst>
        </p:spPr>
      </p:sp>
      <p:pic>
        <p:nvPicPr>
          <p:cNvPr id="7" name="Image 0" descr="assets/screenshots/03_teacher_ai_course_buil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64208"/>
            <a:ext cx="5271516" cy="329469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5413248"/>
            <a:ext cx="51800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— AI Course Builder in action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31636" y="1572768"/>
            <a:ext cx="5454396" cy="4206240"/>
          </a:xfrm>
          <a:prstGeom prst="roundRect">
            <a:avLst>
              <a:gd name="adj" fmla="val 195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F172A">
                <a:alpha val="12000"/>
              </a:srgbClr>
            </a:outerShdw>
          </a:effectLst>
        </p:spPr>
      </p:sp>
      <p:pic>
        <p:nvPicPr>
          <p:cNvPr id="10" name="Image 1" descr="assets/screenshots/04_student_ai_tut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076" y="1664208"/>
            <a:ext cx="5271516" cy="329469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368796" y="5413248"/>
            <a:ext cx="51800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— AI Tutor chat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502920" y="594360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from a live, seeded instance of the application. AI-generated content (course builder, tutor chat, rubric suggestions) shown here was pre-seeded for demonstration rather than generated live, to conserve API quota.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RESULTS OBTAINED (INTERMEDIATE) — 3/3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Walkthrough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Learning Suite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88752" y="6492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572768"/>
            <a:ext cx="5454396" cy="4206240"/>
          </a:xfrm>
          <a:prstGeom prst="roundRect">
            <a:avLst>
              <a:gd name="adj" fmla="val 195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F172A">
                <a:alpha val="12000"/>
              </a:srgbClr>
            </a:outerShdw>
          </a:effectLst>
        </p:spPr>
      </p:sp>
      <p:pic>
        <p:nvPicPr>
          <p:cNvPr id="7" name="Image 0" descr="assets/screenshots/05_teacher_rubric_gra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64208"/>
            <a:ext cx="5271516" cy="329469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5413248"/>
            <a:ext cx="51800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— Rubric grading with AI suggestions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31636" y="1572768"/>
            <a:ext cx="5454396" cy="4206240"/>
          </a:xfrm>
          <a:prstGeom prst="roundRect">
            <a:avLst>
              <a:gd name="adj" fmla="val 195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F172A">
                <a:alpha val="12000"/>
              </a:srgbClr>
            </a:outerShdw>
          </a:effectLst>
        </p:spPr>
      </p:sp>
      <p:pic>
        <p:nvPicPr>
          <p:cNvPr id="10" name="Image 1" descr="assets/screenshots/06_parent_child_grad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076" y="1664208"/>
            <a:ext cx="5271516" cy="329469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368796" y="5413248"/>
            <a:ext cx="51800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— Child's grades &amp; attendance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502920" y="594360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from a live, seeded instance of the application. AI-generated content (course builder, tutor chat, rubric suggestions) shown here was pre-seeded for demonstration rather than generated live, to conserve API quota.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UNIT TESTING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Module-Level Test Coverage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Learning Suite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88752" y="6492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572768"/>
            <a:ext cx="5458968" cy="2148840"/>
          </a:xfrm>
          <a:prstGeom prst="roundRect">
            <a:avLst>
              <a:gd name="adj" fmla="val 3830"/>
            </a:avLst>
          </a:prstGeom>
          <a:solidFill>
            <a:srgbClr val="0F111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F172A">
                <a:alpha val="12000"/>
              </a:srgbClr>
            </a:outerShdw>
          </a:effectLst>
        </p:spPr>
      </p:sp>
      <p:pic>
        <p:nvPicPr>
          <p:cNvPr id="7" name="Image 0" descr="assets/tests/unit_au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978" y="1645920"/>
            <a:ext cx="4298852" cy="176479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94360" y="3410712"/>
            <a:ext cx="5276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test_auth.py — login, RBAC route guards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17920" y="1572768"/>
            <a:ext cx="5458968" cy="2148840"/>
          </a:xfrm>
          <a:prstGeom prst="roundRect">
            <a:avLst>
              <a:gd name="adj" fmla="val 3830"/>
            </a:avLst>
          </a:prstGeom>
          <a:solidFill>
            <a:srgbClr val="0F111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F172A">
                <a:alpha val="12000"/>
              </a:srgbClr>
            </a:outerShdw>
          </a:effectLst>
        </p:spPr>
      </p:sp>
      <p:pic>
        <p:nvPicPr>
          <p:cNvPr id="10" name="Image 1" descr="assets/tests/unit_attend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7978" y="1645920"/>
            <a:ext cx="4298852" cy="176479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309360" y="3410712"/>
            <a:ext cx="5276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test_attendance.py — mark / view attendance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02920" y="3867912"/>
            <a:ext cx="5458968" cy="2148840"/>
          </a:xfrm>
          <a:prstGeom prst="roundRect">
            <a:avLst>
              <a:gd name="adj" fmla="val 3830"/>
            </a:avLst>
          </a:prstGeom>
          <a:solidFill>
            <a:srgbClr val="0F111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F172A">
                <a:alpha val="12000"/>
              </a:srgbClr>
            </a:outerShdw>
          </a:effectLst>
        </p:spPr>
      </p:sp>
      <p:pic>
        <p:nvPicPr>
          <p:cNvPr id="13" name="Image 2" descr="assets/tests/unit_superadmin_list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978" y="3941064"/>
            <a:ext cx="4298852" cy="176479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94360" y="5705856"/>
            <a:ext cx="5276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test_super_admin_school_detail_lists.py — school detail tabs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6217920" y="3867912"/>
            <a:ext cx="5458968" cy="2148840"/>
          </a:xfrm>
          <a:prstGeom prst="roundRect">
            <a:avLst>
              <a:gd name="adj" fmla="val 3830"/>
            </a:avLst>
          </a:prstGeom>
          <a:solidFill>
            <a:srgbClr val="0F111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F172A">
                <a:alpha val="12000"/>
              </a:srgbClr>
            </a:outerShdw>
          </a:effectLst>
        </p:spPr>
      </p:sp>
      <p:pic>
        <p:nvPicPr>
          <p:cNvPr id="16" name="Image 3" descr="assets/tests/unit_summa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7978" y="3941064"/>
            <a:ext cx="4298852" cy="176479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309360" y="5705856"/>
            <a:ext cx="5276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run summary — 21 modules, 99 tests, passed / failed count</a:t>
            </a:r>
            <a:endParaRPr lang="en-US" sz="1000" dirty="0"/>
          </a:p>
        </p:txBody>
      </p:sp>
      <p:sp>
        <p:nvSpPr>
          <p:cNvPr id="18" name="Text 12"/>
          <p:cNvSpPr txBox="1"/>
          <p:nvPr/>
        </p:nvSpPr>
        <p:spPr>
          <a:xfrm>
            <a:off x="502920" y="62636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pytest output from the project's own test suite (99 tests across 21 modules), run against an isolated throwaway SQLite database — never the live Postgres data.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INTEGRATION TESTING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Flow Verification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Learning Suite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88752" y="6492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572768"/>
            <a:ext cx="11183112" cy="1417320"/>
          </a:xfrm>
          <a:prstGeom prst="roundRect">
            <a:avLst>
              <a:gd name="adj" fmla="val 5806"/>
            </a:avLst>
          </a:prstGeom>
          <a:solidFill>
            <a:srgbClr val="0F111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F172A">
                <a:alpha val="12000"/>
              </a:srgbClr>
            </a:outerShdw>
          </a:effectLst>
        </p:spPr>
      </p:sp>
      <p:pic>
        <p:nvPicPr>
          <p:cNvPr id="7" name="Image 0" descr="assets/tests/integ_flow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0805" y="1645920"/>
            <a:ext cx="7647342" cy="110642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2734056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creates assignment → Student submits → Teacher saves rubric-based grade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3191256"/>
            <a:ext cx="11183112" cy="1417320"/>
          </a:xfrm>
          <a:prstGeom prst="roundRect">
            <a:avLst>
              <a:gd name="adj" fmla="val 5806"/>
            </a:avLst>
          </a:prstGeom>
          <a:solidFill>
            <a:srgbClr val="0F111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F172A">
                <a:alpha val="12000"/>
              </a:srgbClr>
            </a:outerShdw>
          </a:effectLst>
        </p:spPr>
      </p:sp>
      <p:pic>
        <p:nvPicPr>
          <p:cNvPr id="10" name="Image 1" descr="assets/tests/integ_flow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0805" y="3264408"/>
            <a:ext cx="7647342" cy="110642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40080" y="4352544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Admin raises a complaint → Super Admin resolves it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02920" y="4809744"/>
            <a:ext cx="11183112" cy="1417320"/>
          </a:xfrm>
          <a:prstGeom prst="roundRect">
            <a:avLst>
              <a:gd name="adj" fmla="val 5806"/>
            </a:avLst>
          </a:prstGeom>
          <a:solidFill>
            <a:srgbClr val="0F111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F172A">
                <a:alpha val="12000"/>
              </a:srgbClr>
            </a:outerShdw>
          </a:effectLst>
        </p:spPr>
      </p:sp>
      <p:pic>
        <p:nvPicPr>
          <p:cNvPr id="13" name="Image 2" descr="assets/tests/integ_flow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0805" y="4882896"/>
            <a:ext cx="7647342" cy="110642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40080" y="5971032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mode toggle should block non-Super-Admin login platform-wide — real gap found</a:t>
            </a:r>
            <a:endParaRPr lang="en-US" sz="1000" dirty="0"/>
          </a:p>
        </p:txBody>
      </p:sp>
      <p:sp>
        <p:nvSpPr>
          <p:cNvPr id="15" name="Text 10"/>
          <p:cNvSpPr txBox="1"/>
          <p:nvPr/>
        </p:nvSpPr>
        <p:spPr>
          <a:xfrm>
            <a:off x="502920" y="62636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live API calls against the seeded demo instance (not mocked) — chained across roles per flow. Flow 3 surfaced a genuine gap: maintenance mode is currently enforced only in the frontend.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REFERENCES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Learning Suite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88752" y="6492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600200"/>
            <a:ext cx="5440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— Official Documentation
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fastapi.tiangolo.com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263640" y="1600200"/>
            <a:ext cx="5440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2.0 — Official Documentation
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docs.sqlalchemy.org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167128"/>
            <a:ext cx="5440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Alembic — Database Migrations for SQLAlchemy
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alembic.sqlalchemy.org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2167128"/>
            <a:ext cx="5440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— Official Documentation
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react.dev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2734056"/>
            <a:ext cx="5440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— Official Documentation
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tailwindcss.com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2734056"/>
            <a:ext cx="5440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— Official Documentation
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postgresql.org/docs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3300984"/>
            <a:ext cx="5440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— Claude API Documentation
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docs.anthropic.com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3300984"/>
            <a:ext cx="5440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AI — Gemini API Documentation
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ai.google.dev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4096512"/>
            <a:ext cx="11183112" cy="868680"/>
          </a:xfrm>
          <a:prstGeom prst="roundRect">
            <a:avLst>
              <a:gd name="adj" fmla="val 947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F172A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" y="4096512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2–3 papers from your literature review on AI-assisted grading and adaptive learning platforms.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943600" cy="5943600"/>
          </a:xfrm>
          <a:prstGeom prst="ellipse">
            <a:avLst/>
          </a:prstGeom>
          <a:solidFill>
            <a:srgbClr val="312E8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2194560"/>
            <a:ext cx="4206240" cy="4206240"/>
          </a:xfrm>
          <a:prstGeom prst="ellipse">
            <a:avLst/>
          </a:prstGeom>
          <a:solidFill>
            <a:srgbClr val="4F46E5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4290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Learning Suite  ·  Angeline Jenita  ·  [Review Date]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2026-09-08T10:16:01Z</dcterms:created>
  <dcterms:modified xsi:type="dcterms:W3CDTF">2026-09-08T10:16:01Z</dcterms:modified>
</cp:coreProperties>
</file>